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815c8347c45d1" /><Relationship Type="http://schemas.openxmlformats.org/officeDocument/2006/relationships/extended-properties" Target="/docProps/app.xml" Id="R99399bea286e4692" /><Relationship Type="http://schemas.openxmlformats.org/officeDocument/2006/relationships/officeDocument" Target="/ppt/presentation.xml" Id="Re3855e078a7c45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c78f2e99ea47ad"/>
  </p:sldMasterIdLst>
  <p:notesMasterIdLst>
    <p:notesMasterId xmlns:r="http://schemas.openxmlformats.org/officeDocument/2006/relationships" r:id="R8620e3511cea4654"/>
  </p:notesMasterIdLst>
  <p:sldIdLst>
    <p:sldId xmlns:r="http://schemas.openxmlformats.org/officeDocument/2006/relationships" id="256" r:id="Rd5a0261b4cb2471a"/>
    <p:sldId xmlns:r="http://schemas.openxmlformats.org/officeDocument/2006/relationships" id="257" r:id="Rc06f396ff8744505"/>
    <p:sldId xmlns:r="http://schemas.openxmlformats.org/officeDocument/2006/relationships" id="258" r:id="R785bbcb9313c40e0"/>
    <p:sldId xmlns:r="http://schemas.openxmlformats.org/officeDocument/2006/relationships" id="259" r:id="R67f463214eee4949"/>
    <p:sldId xmlns:r="http://schemas.openxmlformats.org/officeDocument/2006/relationships" id="260" r:id="R2a8606128a394e1b"/>
    <p:sldId xmlns:r="http://schemas.openxmlformats.org/officeDocument/2006/relationships" id="261" r:id="R74d231d3af89471c"/>
    <p:sldId xmlns:r="http://schemas.openxmlformats.org/officeDocument/2006/relationships" id="262" r:id="R39063632549e4f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138f2c77734c38" /><Relationship Type="http://schemas.openxmlformats.org/officeDocument/2006/relationships/slideMaster" Target="/ppt/slideMasters/slideMaster1.xml" Id="R9dc78f2e99ea47ad" /><Relationship Type="http://schemas.openxmlformats.org/officeDocument/2006/relationships/notesMaster" Target="/ppt/notesMasters/notesMaster1.xml" Id="R8620e3511cea4654" /><Relationship Type="http://schemas.openxmlformats.org/officeDocument/2006/relationships/presProps" Target="/ppt/presProps.xml" Id="Rbd7a6bbcda88450d" /><Relationship Type="http://schemas.openxmlformats.org/officeDocument/2006/relationships/tableStyles" Target="/ppt/tableStyles.xml" Id="Re4da47cd50be4b67" /><Relationship Type="http://schemas.openxmlformats.org/officeDocument/2006/relationships/slide" Target="/ppt/slides/slide1.xml" Id="Rd5a0261b4cb2471a" /><Relationship Type="http://schemas.openxmlformats.org/officeDocument/2006/relationships/slide" Target="/ppt/slides/slide2.xml" Id="Rc06f396ff8744505" /><Relationship Type="http://schemas.openxmlformats.org/officeDocument/2006/relationships/slide" Target="/ppt/slides/slide3.xml" Id="R785bbcb9313c40e0" /><Relationship Type="http://schemas.openxmlformats.org/officeDocument/2006/relationships/slide" Target="/ppt/slides/slide4.xml" Id="R67f463214eee4949" /><Relationship Type="http://schemas.openxmlformats.org/officeDocument/2006/relationships/slide" Target="/ppt/slides/slide5.xml" Id="R2a8606128a394e1b" /><Relationship Type="http://schemas.openxmlformats.org/officeDocument/2006/relationships/slide" Target="/ppt/slides/slide6.xml" Id="R74d231d3af89471c" /><Relationship Type="http://schemas.openxmlformats.org/officeDocument/2006/relationships/slide" Target="/ppt/slides/slide7.xml" Id="R39063632549e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d4435dfeb4b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b9615c439b4a4e" /><Relationship Type="http://schemas.openxmlformats.org/officeDocument/2006/relationships/notesMaster" Target="/ppt/notesMasters/notesMaster1.xml" Id="Re4f4a3ee13934e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0ae3b8b260486f" /><Relationship Type="http://schemas.openxmlformats.org/officeDocument/2006/relationships/notesMaster" Target="/ppt/notesMasters/notesMaster1.xml" Id="R5248125dddb347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9e3bdf5b524cc7" /><Relationship Type="http://schemas.openxmlformats.org/officeDocument/2006/relationships/notesMaster" Target="/ppt/notesMasters/notesMaster1.xml" Id="Re50e50770d1745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66f921769e4b42" /><Relationship Type="http://schemas.openxmlformats.org/officeDocument/2006/relationships/notesMaster" Target="/ppt/notesMasters/notesMaster1.xml" Id="R9cac44fa0d88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5790b67ef3472c" /><Relationship Type="http://schemas.openxmlformats.org/officeDocument/2006/relationships/notesMaster" Target="/ppt/notesMasters/notesMaster1.xml" Id="Rf12671decd724b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f82d7317fc430d" /><Relationship Type="http://schemas.openxmlformats.org/officeDocument/2006/relationships/notesMaster" Target="/ppt/notesMasters/notesMaster1.xml" Id="R2fee4a7a21934b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38f3eb00a64c69" /><Relationship Type="http://schemas.openxmlformats.org/officeDocument/2006/relationships/notesMaster" Target="/ppt/notesMasters/notesMaster1.xml" Id="Rb7978fbdc09742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9581f2071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0eb40f1fd14e8c" /><Relationship Type="http://schemas.openxmlformats.org/officeDocument/2006/relationships/slideLayout" Target="/ppt/slideLayouts/slideLayout1.xml" Id="R3c57a975f86e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57a975f86e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43349629348e2" /><Relationship Type="http://schemas.openxmlformats.org/officeDocument/2006/relationships/image" Target="/ppt/media/image.png" Id="R2836bb0628374ce5" /><Relationship Type="http://schemas.openxmlformats.org/officeDocument/2006/relationships/image" Target="/ppt/media/image2.png" Id="R23d6f4413dc846fd" /><Relationship Type="http://schemas.openxmlformats.org/officeDocument/2006/relationships/notesSlide" Target="/ppt/notesSlides/notesSlide1.xml" Id="Rc61795b1d8314f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48709a23340fb" /><Relationship Type="http://schemas.openxmlformats.org/officeDocument/2006/relationships/notesSlide" Target="/ppt/notesSlides/notesSlide2.xml" Id="R6d3f3e148317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e076b55344692" /><Relationship Type="http://schemas.openxmlformats.org/officeDocument/2006/relationships/image" Target="/ppt/media/image.jpeg" Id="Rf022b40c45514ca6" /><Relationship Type="http://schemas.openxmlformats.org/officeDocument/2006/relationships/image" Target="/ppt/media/image2.jpeg" Id="R0e0f4164a0204a19" /><Relationship Type="http://schemas.openxmlformats.org/officeDocument/2006/relationships/notesSlide" Target="/ppt/notesSlides/notesSlide3.xml" Id="R9f59e3c1d5a341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2ed9e42624fce" /><Relationship Type="http://schemas.openxmlformats.org/officeDocument/2006/relationships/image" Target="/ppt/media/image3.jpeg" Id="R2f422422b0a84481" /><Relationship Type="http://schemas.openxmlformats.org/officeDocument/2006/relationships/image" Target="/ppt/media/image4.jpeg" Id="Rccc8fa4ff8884f81" /><Relationship Type="http://schemas.openxmlformats.org/officeDocument/2006/relationships/notesSlide" Target="/ppt/notesSlides/notesSlide4.xml" Id="R3761de9df5054f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de13a1da048f2" /><Relationship Type="http://schemas.openxmlformats.org/officeDocument/2006/relationships/image" Target="/ppt/media/image5.jpeg" Id="Rd374ac805f6c4eb5" /><Relationship Type="http://schemas.openxmlformats.org/officeDocument/2006/relationships/notesSlide" Target="/ppt/notesSlides/notesSlide5.xml" Id="Ra55f5a1e4b314a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b25a4f05f408f" /><Relationship Type="http://schemas.openxmlformats.org/officeDocument/2006/relationships/image" Target="/ppt/media/image6.jpeg" Id="R3c594ab7853744be" /><Relationship Type="http://schemas.openxmlformats.org/officeDocument/2006/relationships/image" Target="/ppt/media/image7.jpeg" Id="R8280738dc6244489" /><Relationship Type="http://schemas.openxmlformats.org/officeDocument/2006/relationships/notesSlide" Target="/ppt/notesSlides/notesSlide6.xml" Id="R4f028039fa294a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3f9343eac4ff3" /><Relationship Type="http://schemas.openxmlformats.org/officeDocument/2006/relationships/notesSlide" Target="/ppt/notesSlides/notesSlide7.xml" Id="R81557cef00d04c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6bb0628374ce5"/>
          <a:stretch xmlns:a="http://schemas.openxmlformats.org/drawingml/2006/main"/>
        </p:blipFill>
        <p:spPr>
          <a:xfrm xmlns:a="http://schemas.openxmlformats.org/drawingml/2006/main">
            <a:off x="1719191" y="514350"/>
            <a:ext cx="2409967" cy="990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C1C3D-E215-4ED6-BAC2-2B2CACC3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A393E-9FED-4AFB-9C5D-4AE09009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553"/>
                </a:solidFill>
              </a:defRPr>
            </a:pPr>
            <a:r>
              <a:rPr sz="4350" b="1">
                <a:solidFill>
                  <a:srgbClr val="173553"/>
                </a:solidFill>
              </a:rPr>
              <a:t>Tournament operations,</a:t>
            </a:r>
          </a:p>
          <a:p xmlns:a="http://schemas.openxmlformats.org/drawingml/2006/main">
            <a:pPr>
              <a:defRPr sz="4350" b="1">
                <a:solidFill>
                  <a:srgbClr val="173553"/>
                </a:solidFill>
              </a:defRPr>
            </a:pPr>
            <a:r>
              <a:rPr sz="4350" b="1">
                <a:solidFill>
                  <a:srgbClr val="173553"/>
                </a:solidFill>
              </a:rPr>
              <a:t>simplified.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EA8BF-7EA3-4F8C-9265-7D05DF6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3758A"/>
                </a:solidFill>
              </a:defRPr>
            </a:pPr>
            <a:r>
              <a:rPr sz="2025">
                <a:solidFill>
                  <a:srgbClr val="63758A"/>
                </a:solidFill>
              </a:rPr>
              <a:t>Check in officials. Coordinate referee coaches. Build a useful ratings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264B8-7480-414F-9B38-282A9C67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526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9050">
            <a:solidFill>
              <a:srgbClr val="D8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6f4413dc846fd"/>
          <a:stretch xmlns:a="http://schemas.openxmlformats.org/drawingml/2006/main"/>
        </p:blipFill>
        <p:spPr>
          <a:xfrm xmlns:a="http://schemas.openxmlformats.org/drawingml/2006/main">
            <a:off x="9334500" y="2554336"/>
            <a:ext cx="1428750" cy="58727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921DD-95D8-43C1-A061-792CF5E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5B89"/>
                </a:solidFill>
              </a:defRPr>
            </a:pPr>
            <a:r>
              <a:rPr sz="1500" b="1">
                <a:solidFill>
                  <a:srgbClr val="2D5B89"/>
                </a:solidFill>
              </a:rPr>
              <a:t>Pilot-ready web platform</a:t>
            </a:r>
          </a:p>
        </p:txBody>
      </p:sp>
    </p:spTree>
    <p:extLst>
      <p:ext uri="{BB962C8B-B14F-4D97-AF65-F5344CB8AC3E}">
        <p14:creationId xmlns:p14="http://schemas.microsoft.com/office/powerpoint/2010/main" val="1479188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98CCD-40AC-43C8-AED4-DD3C6967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53"/>
                </a:solidFill>
              </a:defRPr>
            </a:pPr>
            <a:r>
              <a:rPr sz="3000" b="1">
                <a:solidFill>
                  <a:srgbClr val="173553"/>
                </a:solidFill>
              </a:rPr>
              <a:t>Two jobs. One clear event-day 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A93DF-D445-4D92-9A4A-74DD019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68"/>
          </a:solidFill>
          <a:ln xmlns:a="http://schemas.openxmlformats.org/drawingml/2006/main" w="0">
            <a:solidFill>
              <a:srgbClr val="1D42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6AE76-63E6-4CBF-8F47-1B70FA6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CHECK-IN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3AADD-504D-44B4-AFF1-1BE9A0A1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EA6DD-111E-41EF-BE8A-A922CA79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53"/>
                </a:solidFill>
              </a:defRPr>
            </a:pPr>
            <a:r>
              <a:rPr sz="1725" b="1">
                <a:solidFill>
                  <a:srgbClr val="173553"/>
                </a:solidFill>
              </a:rPr>
              <a:t>Flexible arrival workflows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76E7C-E9B2-49FC-ACB4-E66E35D7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A"/>
                </a:solidFill>
              </a:defRPr>
            </a:pPr>
            <a:r>
              <a:rPr sz="1275">
                <a:solidFill>
                  <a:srgbClr val="63758A"/>
                </a:solidFill>
              </a:rPr>
              <a:t>Account-based or external QR check-in, plus manual staff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F4AB4-592C-433C-9AFB-9801D6BB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89"/>
          </a:solidFill>
          <a:ln xmlns:a="http://schemas.openxmlformats.org/drawingml/2006/main" w="0">
            <a:solidFill>
              <a:srgbClr val="2D5B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0F1EC-7137-4E63-BE26-6B432BD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53"/>
                </a:solidFill>
              </a:defRPr>
            </a:pPr>
            <a:r>
              <a:rPr sz="1725" b="1">
                <a:solidFill>
                  <a:srgbClr val="173553"/>
                </a:solidFill>
              </a:rPr>
              <a:t>Live attendance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1BEE7-71DB-4DF8-8566-AE73626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A"/>
                </a:solidFill>
              </a:defRPr>
            </a:pPr>
            <a:r>
              <a:rPr sz="1275">
                <a:solidFill>
                  <a:srgbClr val="63758A"/>
                </a:solidFill>
              </a:rPr>
              <a:t>See who is expected, checked in, or still missing - with time and method recorded.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D577D-2160-455D-8753-08820ED5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AC983-5FB9-4DFF-A243-E638E160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53"/>
                </a:solidFill>
              </a:defRPr>
            </a:pPr>
            <a:r>
              <a:rPr sz="1725" b="1">
                <a:solidFill>
                  <a:srgbClr val="173553"/>
                </a:solidFill>
              </a:rPr>
              <a:t>Built for tournament 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A7615-E119-4B25-99C2-103BB7B6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A"/>
                </a:solidFill>
              </a:defRPr>
            </a:pPr>
            <a:r>
              <a:rPr sz="1275">
                <a:solidFill>
                  <a:srgbClr val="63758A"/>
                </a:solidFill>
              </a:rPr>
              <a:t>Mobile rosters, schedule access, filters, and printable QR sheets.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F8469-CB69-4E17-93CE-2D5F8408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D"/>
          </a:solidFill>
          <a:ln xmlns:a="http://schemas.openxmlformats.org/drawingml/2006/main" w="0">
            <a:solidFill>
              <a:srgbClr val="D8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5FE36-C516-400E-8369-6436705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COACHING + RATINGS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082CB-0E73-4154-B4B1-383AC23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53"/>
                </a:solidFill>
              </a:defRPr>
            </a:pPr>
            <a:r>
              <a:rPr sz="1875" b="1">
                <a:solidFill>
                  <a:srgbClr val="173553"/>
                </a:solidFill>
              </a:rPr>
              <a:t>Assign coaches across selected games, sites, dates, and times.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96B08-43AD-4FB3-AFD5-494F339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758A"/>
                </a:solidFill>
              </a:defRPr>
            </a:pPr>
            <a:r>
              <a:rPr sz="1725">
                <a:solidFill>
                  <a:srgbClr val="63758A"/>
                </a:solidFill>
              </a:rPr>
              <a:t>Capture Basic or Skills evaluations, control visibility, review history, and export results for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41477-5503-450C-9944-C083D26B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5B89"/>
                </a:solidFill>
              </a:defRPr>
            </a:pPr>
            <a:r>
              <a:rPr sz="1425" b="1">
                <a:solidFill>
                  <a:srgbClr val="2D5B89"/>
                </a:solidFill>
              </a:rPr>
              <a:t>Private by default. Share only what each role may see.</a:t>
            </a:r>
          </a:p>
        </p:txBody>
      </p:sp>
    </p:spTree>
    <p:extLst>
      <p:ext uri="{BB962C8B-B14F-4D97-AF65-F5344CB8AC3E}">
        <p14:creationId xmlns:p14="http://schemas.microsoft.com/office/powerpoint/2010/main" val="1552834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19B22-CC19-4A7D-ABB3-32998E8D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The event-day picture stays visible.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5AFA8-657D-45B4-AAEF-D7328A97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Schedule and crew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8053E-6FDA-46F5-9F2B-2240150C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81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Arrival status at a glance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1B07F-CF6E-486B-A979-70DB926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2b40c45514ca6"/>
          <a:stretch xmlns:a="http://schemas.openxmlformats.org/drawingml/2006/main"/>
        </p:blipFill>
        <p:spPr>
          <a:xfrm xmlns:a="http://schemas.openxmlformats.org/drawingml/2006/main">
            <a:off x="685800" y="16383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4A89A-8BBB-42E0-BDFB-8780480C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f4164a0204a19"/>
          <a:stretch xmlns:a="http://schemas.openxmlformats.org/drawingml/2006/main"/>
        </p:blipFill>
        <p:spPr>
          <a:xfrm xmlns:a="http://schemas.openxmlformats.org/drawingml/2006/main">
            <a:off x="6553200" y="16383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3452C-B636-415F-9E61-A7B4E62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3758A"/>
                </a:solidFill>
              </a:defRPr>
            </a:pPr>
            <a:r>
              <a:rPr sz="1650">
                <a:solidFill>
                  <a:srgbClr val="63758A"/>
                </a:solidFill>
              </a:rPr>
              <a:t>Staff can move from the posted schedule to live attendance without rebuilding the event in a second tool.</a:t>
            </a:r>
          </a:p>
        </p:txBody>
      </p:sp>
    </p:spTree>
    <p:extLst>
      <p:ext uri="{BB962C8B-B14F-4D97-AF65-F5344CB8AC3E}">
        <p14:creationId xmlns:p14="http://schemas.microsoft.com/office/powerpoint/2010/main" val="402443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D4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ABDE9-7B2D-4DAF-AEED-9893090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External check-in is a simple phone 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5CB69-5AE2-41BC-B511-6B09CF9E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BE7F0"/>
                </a:solidFill>
              </a:defRPr>
            </a:pPr>
            <a:r>
              <a:rPr sz="1650">
                <a:solidFill>
                  <a:srgbClr val="DBE7F0"/>
                </a:solidFill>
              </a:rPr>
              <a:t>Scan, identify, confirm - with the referee's schedule shown immediately.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6E93C-4384-45E5-8C8F-2C9A4DBA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81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2F6B"/>
                </a:solidFill>
              </a:defRPr>
            </a:pPr>
            <a:r>
              <a:rPr sz="1350" b="1">
                <a:solidFill>
                  <a:srgbClr val="C72F6B"/>
                </a:solidFill>
              </a:rPr>
              <a:t>1  FIND THE IMPORTED SCHEDULE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DCFFE-E08E-437C-B1BB-E5FB961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2F6B"/>
                </a:solidFill>
              </a:defRPr>
            </a:pPr>
            <a:r>
              <a:rPr sz="1350" b="1">
                <a:solidFill>
                  <a:srgbClr val="C72F6B"/>
                </a:solidFill>
              </a:rPr>
              <a:t>2  SEE THE CONFIRMATION + ASSIGNMENTS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C83E9-3367-4596-81C2-65EC5666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81200"/>
            <a:ext cx="3390900" cy="44386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F4AD9-39C5-489E-BB55-8A380699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81200"/>
            <a:ext cx="3390900" cy="44386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1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22422b0a84481"/>
          <a:stretch xmlns:a="http://schemas.openxmlformats.org/drawingml/2006/main"/>
        </p:blipFill>
        <p:spPr>
          <a:xfrm xmlns:a="http://schemas.openxmlformats.org/drawingml/2006/main">
            <a:off x="1885950" y="2128813"/>
            <a:ext cx="3162300" cy="414342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8fa4ff8884f81"/>
          <a:stretch xmlns:a="http://schemas.openxmlformats.org/drawingml/2006/main"/>
        </p:blipFill>
        <p:spPr>
          <a:xfrm xmlns:a="http://schemas.openxmlformats.org/drawingml/2006/main">
            <a:off x="7143750" y="2128813"/>
            <a:ext cx="3162300" cy="41434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49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DE808-D899-4CE7-8173-25D1DD8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Ratings become a usable development record.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AB8F1-54D3-4736-8340-57531DAE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758A"/>
                </a:solidFill>
              </a:defRPr>
            </a:pPr>
            <a:r>
              <a:rPr sz="1575">
                <a:solidFill>
                  <a:srgbClr val="63758A"/>
                </a:solidFill>
              </a:rPr>
              <a:t>Review a full crew together, control access, filter results, and export the history.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3A0E9-2F7A-4BA9-8D1C-55C835B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4ac805f6c4eb5"/>
          <a:stretch xmlns:a="http://schemas.openxmlformats.org/drawingml/2006/main"/>
        </p:blipFill>
        <p:spPr>
          <a:xfrm xmlns:a="http://schemas.openxmlformats.org/drawingml/2006/main">
            <a:off x="2804160" y="1752600"/>
            <a:ext cx="6583680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16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43C36-D52F-4495-82DF-FA163EF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Choose the right depth for each event.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48D82-1DD3-476D-BDD7-C4CC52F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2F6B"/>
                </a:solidFill>
              </a:defRPr>
            </a:pPr>
            <a:r>
              <a:rPr sz="1425" b="1">
                <a:solidFill>
                  <a:srgbClr val="C72F6B"/>
                </a:solidFill>
              </a:rPr>
              <a:t>BASIC 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724BB-C4F5-4000-AF0D-B2BFF0B5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81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2F6B"/>
                </a:solidFill>
              </a:defRPr>
            </a:pPr>
            <a:r>
              <a:rPr sz="1425" b="1">
                <a:solidFill>
                  <a:srgbClr val="C72F6B"/>
                </a:solidFill>
              </a:rPr>
              <a:t>SKILLS 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1FCC8-F61F-452C-9ACA-A55A9C7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94ab7853744be"/>
          <a:stretch xmlns:a="http://schemas.openxmlformats.org/drawingml/2006/main"/>
        </p:blipFill>
        <p:spPr>
          <a:xfrm xmlns:a="http://schemas.openxmlformats.org/drawingml/2006/main">
            <a:off x="685800" y="16002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AF180-66C0-4441-85D6-1072906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0738dc6244489"/>
          <a:stretch xmlns:a="http://schemas.openxmlformats.org/drawingml/2006/main"/>
        </p:blipFill>
        <p:spPr>
          <a:xfrm xmlns:a="http://schemas.openxmlformats.org/drawingml/2006/main">
            <a:off x="6553200" y="16002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51C79-78FB-4AC5-B650-20C19CF6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53"/>
                </a:solidFill>
              </a:defRPr>
            </a:pPr>
            <a:r>
              <a:rPr sz="1575" b="1">
                <a:solidFill>
                  <a:srgbClr val="173553"/>
                </a:solidFill>
              </a:rPr>
              <a:t>Fast 1-5 rating plus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F3035-559D-4F4F-BCF7-AECC1E5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720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53"/>
                </a:solidFill>
              </a:defRPr>
            </a:pPr>
            <a:r>
              <a:rPr sz="1575" b="1">
                <a:solidFill>
                  <a:srgbClr val="173553"/>
                </a:solidFill>
              </a:rPr>
              <a:t>Role-specific scoring and written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F5053-39A0-4231-9DCB-7F6157C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57850"/>
            <a:ext cx="487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68"/>
          </a:solidFill>
          <a:ln xmlns:a="http://schemas.openxmlformats.org/drawingml/2006/main" w="0">
            <a:solidFill>
              <a:srgbClr val="1D42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92A54-6F28-43D5-9DFB-83C15986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674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5B89"/>
                </a:solidFill>
              </a:defRPr>
            </a:pPr>
            <a:r>
              <a:rPr sz="1500" b="1">
                <a:solidFill>
                  <a:srgbClr val="2D5B89"/>
                </a:solidFill>
              </a:rPr>
              <a:t>Custom evaluation formats can be made available for a group's workflow.</a:t>
            </a:r>
          </a:p>
        </p:txBody>
      </p:sp>
    </p:spTree>
    <p:extLst>
      <p:ext uri="{BB962C8B-B14F-4D97-AF65-F5344CB8AC3E}">
        <p14:creationId xmlns:p14="http://schemas.microsoft.com/office/powerpoint/2010/main" val="1539797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4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9246D-74F4-4B76-A56F-9DB4EEE8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Start small. Prove the workflow.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FC916-EF00-4DDB-A9B3-E7356567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BE7F0"/>
                </a:solidFill>
              </a:defRPr>
            </a:pPr>
            <a:r>
              <a:rPr sz="2025">
                <a:solidFill>
                  <a:srgbClr val="DBE7F0"/>
                </a:solidFill>
              </a:rPr>
              <a:t>Law18Ref supports a focused tournament pilot today.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5B520-529D-4D3E-BCBA-DFFE6E12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Import schedules and officials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B318D-DEEE-401F-BE17-38FAFDB5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Run check-in and attendance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AF5BA-5416-4A44-8330-55A72297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Coordinate coaches and ratings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F4C5C-A4F1-49F6-9530-77223BE5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354EC-5F6E-4CE5-A39C-01A0A23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BD18C-CDE5-4A2D-8B48-C2AD5CCC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294E3-EF19-4561-A1A3-153F927A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E9E62-C439-494F-9AE1-54FCA454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53"/>
                </a:solidFill>
              </a:defRPr>
            </a:pPr>
            <a:r>
              <a:rPr sz="1875" b="1">
                <a:solidFill>
                  <a:srgbClr val="173553"/>
                </a:solidFill>
              </a:rPr>
              <a:t>Exploring what comes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3E5B1-6E77-4E01-8B4F-F6E58165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3758A"/>
                </a:solidFill>
              </a:defRPr>
            </a:pPr>
            <a:r>
              <a:rPr sz="1500">
                <a:solidFill>
                  <a:srgbClr val="63758A"/>
                </a:solidFill>
              </a:rPr>
              <a:t>Messaging and full assignment tools are potential future additions being explored - not committed product promises.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8283A-26DE-4576-B671-DD9F3E1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Law18Referee Management</a:t>
            </a:r>
          </a:p>
        </p:txBody>
      </p:sp>
    </p:spTree>
    <p:extLst>
      <p:ext uri="{BB962C8B-B14F-4D97-AF65-F5344CB8AC3E}">
        <p14:creationId xmlns:p14="http://schemas.microsoft.com/office/powerpoint/2010/main" val="2025289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2026-08-25T21:06:36.7380000Z</dcterms:created>
  <dcterms:modified xsi:type="dcterms:W3CDTF">2026-08-25T21:06:36.7380000Z</dcterms:modified>
</coreProperties>
</file>