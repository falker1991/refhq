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c159a73d984418" /><Relationship Type="http://schemas.openxmlformats.org/officeDocument/2006/relationships/extended-properties" Target="/docProps/app.xml" Id="Ra976c2c5d96b44e0" /><Relationship Type="http://schemas.openxmlformats.org/officeDocument/2006/relationships/officeDocument" Target="/ppt/presentation.xml" Id="R85b7408b7c4449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404ba2b2354e62"/>
  </p:sldMasterIdLst>
  <p:notesMasterIdLst>
    <p:notesMasterId xmlns:r="http://schemas.openxmlformats.org/officeDocument/2006/relationships" r:id="R5f7fe20c60854212"/>
  </p:notesMasterIdLst>
  <p:sldIdLst>
    <p:sldId xmlns:r="http://schemas.openxmlformats.org/officeDocument/2006/relationships" id="256" r:id="Ra56a2207d5964376"/>
    <p:sldId xmlns:r="http://schemas.openxmlformats.org/officeDocument/2006/relationships" id="257" r:id="Rf228250e6c794fe4"/>
    <p:sldId xmlns:r="http://schemas.openxmlformats.org/officeDocument/2006/relationships" id="258" r:id="Rb18211be9ce04e9c"/>
    <p:sldId xmlns:r="http://schemas.openxmlformats.org/officeDocument/2006/relationships" id="259" r:id="Rd44981e1c96943f6"/>
    <p:sldId xmlns:r="http://schemas.openxmlformats.org/officeDocument/2006/relationships" id="260" r:id="R5a4f51e7c7884734"/>
    <p:sldId xmlns:r="http://schemas.openxmlformats.org/officeDocument/2006/relationships" id="261" r:id="Rc9449d92e98d4ddb"/>
    <p:sldId xmlns:r="http://schemas.openxmlformats.org/officeDocument/2006/relationships" id="262" r:id="Rf5dfde9e17034e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d4eb7646294313" /><Relationship Type="http://schemas.openxmlformats.org/officeDocument/2006/relationships/slideMaster" Target="/ppt/slideMasters/slideMaster1.xml" Id="Rc0404ba2b2354e62" /><Relationship Type="http://schemas.openxmlformats.org/officeDocument/2006/relationships/notesMaster" Target="/ppt/notesMasters/notesMaster1.xml" Id="R5f7fe20c60854212" /><Relationship Type="http://schemas.openxmlformats.org/officeDocument/2006/relationships/presProps" Target="/ppt/presProps.xml" Id="R0289afa68164414f" /><Relationship Type="http://schemas.openxmlformats.org/officeDocument/2006/relationships/tableStyles" Target="/ppt/tableStyles.xml" Id="R6bad6cbbe8714a12" /><Relationship Type="http://schemas.openxmlformats.org/officeDocument/2006/relationships/slide" Target="/ppt/slides/slide1.xml" Id="Ra56a2207d5964376" /><Relationship Type="http://schemas.openxmlformats.org/officeDocument/2006/relationships/slide" Target="/ppt/slides/slide2.xml" Id="Rf228250e6c794fe4" /><Relationship Type="http://schemas.openxmlformats.org/officeDocument/2006/relationships/slide" Target="/ppt/slides/slide3.xml" Id="Rb18211be9ce04e9c" /><Relationship Type="http://schemas.openxmlformats.org/officeDocument/2006/relationships/slide" Target="/ppt/slides/slide4.xml" Id="Rd44981e1c96943f6" /><Relationship Type="http://schemas.openxmlformats.org/officeDocument/2006/relationships/slide" Target="/ppt/slides/slide5.xml" Id="R5a4f51e7c7884734" /><Relationship Type="http://schemas.openxmlformats.org/officeDocument/2006/relationships/slide" Target="/ppt/slides/slide6.xml" Id="Rc9449d92e98d4ddb" /><Relationship Type="http://schemas.openxmlformats.org/officeDocument/2006/relationships/slide" Target="/ppt/slides/slide7.xml" Id="Rf5dfde9e17034e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02c368e52e4b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853eb772614d09" /><Relationship Type="http://schemas.openxmlformats.org/officeDocument/2006/relationships/notesMaster" Target="/ppt/notesMasters/notesMaster1.xml" Id="R0e95780494b645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975e2b3aeb4d44" /><Relationship Type="http://schemas.openxmlformats.org/officeDocument/2006/relationships/notesMaster" Target="/ppt/notesMasters/notesMaster1.xml" Id="R1d64915f439d44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2f044eb7ea44a5" /><Relationship Type="http://schemas.openxmlformats.org/officeDocument/2006/relationships/notesMaster" Target="/ppt/notesMasters/notesMaster1.xml" Id="R5867fd0d5b6f4f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32739808a043d4" /><Relationship Type="http://schemas.openxmlformats.org/officeDocument/2006/relationships/notesMaster" Target="/ppt/notesMasters/notesMaster1.xml" Id="R067343b60c2c43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e88852f61e419c" /><Relationship Type="http://schemas.openxmlformats.org/officeDocument/2006/relationships/notesMaster" Target="/ppt/notesMasters/notesMaster1.xml" Id="R69bfdc5521d846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7bba5e572540af" /><Relationship Type="http://schemas.openxmlformats.org/officeDocument/2006/relationships/notesMaster" Target="/ppt/notesMasters/notesMaster1.xml" Id="Rccf12db0692140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be892afc794e38" /><Relationship Type="http://schemas.openxmlformats.org/officeDocument/2006/relationships/notesMaster" Target="/ppt/notesMasters/notesMaster1.xml" Id="Rf0fac4b5e59d4c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0a4c7c2464b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c43e406d2e4ff4" /><Relationship Type="http://schemas.openxmlformats.org/officeDocument/2006/relationships/slideLayout" Target="/ppt/slideLayouts/slideLayout1.xml" Id="Refe2cdb8725b43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e2cdb8725b43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c090717c64da9" /><Relationship Type="http://schemas.openxmlformats.org/officeDocument/2006/relationships/image" Target="/ppt/media/image.png" Id="R3ba64d260df24a8d" /><Relationship Type="http://schemas.openxmlformats.org/officeDocument/2006/relationships/image" Target="/ppt/media/image2.png" Id="R786adce57e284711" /><Relationship Type="http://schemas.openxmlformats.org/officeDocument/2006/relationships/notesSlide" Target="/ppt/notesSlides/notesSlide1.xml" Id="R1c5b93a7389342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442670b464ee2" /><Relationship Type="http://schemas.openxmlformats.org/officeDocument/2006/relationships/notesSlide" Target="/ppt/notesSlides/notesSlide2.xml" Id="R9e76373484d949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8c17b8f1447b0" /><Relationship Type="http://schemas.openxmlformats.org/officeDocument/2006/relationships/image" Target="/ppt/media/image.jpeg" Id="R42d80ee0f1104c16" /><Relationship Type="http://schemas.openxmlformats.org/officeDocument/2006/relationships/image" Target="/ppt/media/image2.jpeg" Id="R652f4090d1e9442a" /><Relationship Type="http://schemas.openxmlformats.org/officeDocument/2006/relationships/notesSlide" Target="/ppt/notesSlides/notesSlide3.xml" Id="R698536a07efe4d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2d052481a4db0" /><Relationship Type="http://schemas.openxmlformats.org/officeDocument/2006/relationships/image" Target="/ppt/media/image3.jpeg" Id="R256686f6fd4e44e6" /><Relationship Type="http://schemas.openxmlformats.org/officeDocument/2006/relationships/image" Target="/ppt/media/image4.jpeg" Id="R788c2be6c6c2425d" /><Relationship Type="http://schemas.openxmlformats.org/officeDocument/2006/relationships/notesSlide" Target="/ppt/notesSlides/notesSlide4.xml" Id="Rb11be5c9fe2b4c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d050d4caa4b64" /><Relationship Type="http://schemas.openxmlformats.org/officeDocument/2006/relationships/image" Target="/ppt/media/image5.jpeg" Id="Rccc8bc25320f4420" /><Relationship Type="http://schemas.openxmlformats.org/officeDocument/2006/relationships/notesSlide" Target="/ppt/notesSlides/notesSlide5.xml" Id="Rbc0cc19e1ac540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ff23381014fc7" /><Relationship Type="http://schemas.openxmlformats.org/officeDocument/2006/relationships/image" Target="/ppt/media/image6.jpeg" Id="R5df4492eebdf4889" /><Relationship Type="http://schemas.openxmlformats.org/officeDocument/2006/relationships/image" Target="/ppt/media/image7.jpeg" Id="R7e067acb0aac42e4" /><Relationship Type="http://schemas.openxmlformats.org/officeDocument/2006/relationships/notesSlide" Target="/ppt/notesSlides/notesSlide6.xml" Id="R92a276960c8144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f6eccb0a4436b" /><Relationship Type="http://schemas.openxmlformats.org/officeDocument/2006/relationships/notesSlide" Target="/ppt/notesSlides/notesSlide7.xml" Id="R2d731bdfeb614c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64d260df24a8d"/>
          <a:stretch xmlns:a="http://schemas.openxmlformats.org/drawingml/2006/main"/>
        </p:blipFill>
        <p:spPr>
          <a:xfrm xmlns:a="http://schemas.openxmlformats.org/drawingml/2006/main">
            <a:off x="1719191" y="514350"/>
            <a:ext cx="2409967" cy="9906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0AE80-608E-44FE-8BAA-D6E79313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28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F6B"/>
          </a:solidFill>
          <a:ln xmlns:a="http://schemas.openxmlformats.org/drawingml/2006/main" w="0">
            <a:solidFill>
              <a:srgbClr val="C72F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217A2-332B-4D15-8B60-87D9EE4B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553"/>
                </a:solidFill>
              </a:defRPr>
            </a:pPr>
            <a:r>
              <a:rPr sz="4350" b="1">
                <a:solidFill>
                  <a:srgbClr val="173553"/>
                </a:solidFill>
              </a:rPr>
              <a:t>Product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B5981-82A3-42AD-8AE7-1F95C6A9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3758A"/>
                </a:solidFill>
              </a:defRPr>
            </a:pPr>
            <a:r>
              <a:rPr sz="2025">
                <a:solidFill>
                  <a:srgbClr val="63758A"/>
                </a:solidFill>
              </a:rPr>
              <a:t>Tournament check-in, schedule visibility, referee coaching, and ratings.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FEE2D-FD4F-4C21-A083-4E99C0AA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526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19050">
            <a:solidFill>
              <a:srgbClr val="D8E4E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adce57e284711"/>
          <a:stretch xmlns:a="http://schemas.openxmlformats.org/drawingml/2006/main"/>
        </p:blipFill>
        <p:spPr>
          <a:xfrm xmlns:a="http://schemas.openxmlformats.org/drawingml/2006/main">
            <a:off x="9334500" y="2554336"/>
            <a:ext cx="1428750" cy="58727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46A7C-A456-4D55-9A26-23BA56F8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5B89"/>
                </a:solidFill>
              </a:defRPr>
            </a:pPr>
            <a:r>
              <a:rPr sz="1500" b="1">
                <a:solidFill>
                  <a:srgbClr val="2D5B89"/>
                </a:solidFill>
              </a:rPr>
              <a:t>Current web platform</a:t>
            </a:r>
          </a:p>
        </p:txBody>
      </p:sp>
    </p:spTree>
    <p:extLst>
      <p:ext uri="{BB962C8B-B14F-4D97-AF65-F5344CB8AC3E}">
        <p14:creationId xmlns:p14="http://schemas.microsoft.com/office/powerpoint/2010/main" val="8551323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FA93A-2664-40E4-AFE6-989A7930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53"/>
                </a:solidFill>
              </a:defRPr>
            </a:pPr>
            <a:r>
              <a:rPr sz="3000" b="1">
                <a:solidFill>
                  <a:srgbClr val="173553"/>
                </a:solidFill>
              </a:rPr>
              <a:t>Current platform functions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F3BAD-A435-466D-8560-3B833370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68"/>
          </a:solidFill>
          <a:ln xmlns:a="http://schemas.openxmlformats.org/drawingml/2006/main" w="0">
            <a:solidFill>
              <a:srgbClr val="1D426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F598B-B68F-42F3-BED1-DF8F0586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2F6B"/>
                </a:solidFill>
              </a:defRPr>
            </a:pPr>
            <a:r>
              <a:rPr sz="1500" b="1">
                <a:solidFill>
                  <a:srgbClr val="C72F6B"/>
                </a:solidFill>
              </a:rPr>
              <a:t>CHECK-IN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3335F-4F17-49FA-BC9E-DEB4CF14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2F6B"/>
          </a:solidFill>
          <a:ln xmlns:a="http://schemas.openxmlformats.org/drawingml/2006/main" w="0">
            <a:solidFill>
              <a:srgbClr val="C72F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9EFBA-C147-4B88-8AB7-6E23BF8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53"/>
                </a:solidFill>
              </a:defRPr>
            </a:pPr>
            <a:r>
              <a:rPr sz="1725" b="1">
                <a:solidFill>
                  <a:srgbClr val="173553"/>
                </a:solidFill>
              </a:rPr>
              <a:t>Check-in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DF08C-1E1F-4D07-8EF0-DA60DD8F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58A"/>
                </a:solidFill>
              </a:defRPr>
            </a:pPr>
            <a:r>
              <a:rPr sz="1275">
                <a:solidFill>
                  <a:srgbClr val="63758A"/>
                </a:solidFill>
              </a:rPr>
              <a:t>Account-based QR check-in, external check-in without an account, and manual staff check-in.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AB64E-0099-4512-BD03-BB40A1D1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89"/>
          </a:solidFill>
          <a:ln xmlns:a="http://schemas.openxmlformats.org/drawingml/2006/main" w="0">
            <a:solidFill>
              <a:srgbClr val="2D5B8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82C27-53EF-4374-B322-F0FBE166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53"/>
                </a:solidFill>
              </a:defRPr>
            </a:pPr>
            <a:r>
              <a:rPr sz="1725" b="1">
                <a:solidFill>
                  <a:srgbClr val="173553"/>
                </a:solidFill>
              </a:rPr>
              <a:t>Attendance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18628-AEC8-489E-B9CA-9DBDA117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58A"/>
                </a:solidFill>
              </a:defRPr>
            </a:pPr>
            <a:r>
              <a:rPr sz="1275">
                <a:solidFill>
                  <a:srgbClr val="63758A"/>
                </a:solidFill>
              </a:rPr>
              <a:t>Displays expected officials, check-in status, check-in time, and check-in method.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79CBC-F750-4A59-B951-3AC7A886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2F6B"/>
          </a:solidFill>
          <a:ln xmlns:a="http://schemas.openxmlformats.org/drawingml/2006/main" w="0">
            <a:solidFill>
              <a:srgbClr val="C72F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B6B90-5F67-467F-B8C1-7CD6B6B5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553"/>
                </a:solidFill>
              </a:defRPr>
            </a:pPr>
            <a:r>
              <a:rPr sz="1725" b="1">
                <a:solidFill>
                  <a:srgbClr val="173553"/>
                </a:solidFill>
              </a:rPr>
              <a:t>Event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9098E-B5BB-4A33-ACA5-983438EF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3758A"/>
                </a:solidFill>
              </a:defRPr>
            </a:pPr>
            <a:r>
              <a:rPr sz="1275">
                <a:solidFill>
                  <a:srgbClr val="63758A"/>
                </a:solidFill>
              </a:rPr>
              <a:t>Responsive rosters, schedule views, filters, and printable daily QR sheets.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DE0E8-582E-4348-947A-1F591AF2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D"/>
          </a:solidFill>
          <a:ln xmlns:a="http://schemas.openxmlformats.org/drawingml/2006/main" w="0">
            <a:solidFill>
              <a:srgbClr val="D8E4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F935A-FBB1-4E6A-BAAC-1EFA1862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2F6B"/>
                </a:solidFill>
              </a:defRPr>
            </a:pPr>
            <a:r>
              <a:rPr sz="1500" b="1">
                <a:solidFill>
                  <a:srgbClr val="C72F6B"/>
                </a:solidFill>
              </a:rPr>
              <a:t>COACHING + RATINGS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D8002-2126-43E7-A200-37373418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53"/>
                </a:solidFill>
              </a:defRPr>
            </a:pPr>
            <a:r>
              <a:rPr sz="1875" b="1">
                <a:solidFill>
                  <a:srgbClr val="173553"/>
                </a:solidFill>
              </a:rPr>
              <a:t>Assign referee coaches by game, site, date, or time.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6848D-C4AF-4DEF-A4BC-C195B05E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3758A"/>
                </a:solidFill>
              </a:defRPr>
            </a:pPr>
            <a:r>
              <a:rPr sz="1725">
                <a:solidFill>
                  <a:srgbClr val="63758A"/>
                </a:solidFill>
              </a:rPr>
              <a:t>Basic Eval and Skills Eval forms support visibility controls, rating history, filters, and spreadsheet exports.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CB07C-9BDB-49C3-A67B-328C655A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5B89"/>
                </a:solidFill>
              </a:defRPr>
            </a:pPr>
            <a:r>
              <a:rPr sz="1425" b="1">
                <a:solidFill>
                  <a:srgbClr val="2D5B89"/>
                </a:solidFill>
              </a:rPr>
              <a:t>Access is controlled by group, event, and user role.</a:t>
            </a:r>
          </a:p>
        </p:txBody>
      </p:sp>
    </p:spTree>
    <p:extLst>
      <p:ext uri="{BB962C8B-B14F-4D97-AF65-F5344CB8AC3E}">
        <p14:creationId xmlns:p14="http://schemas.microsoft.com/office/powerpoint/2010/main" val="1928494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CB499-6006-416E-8EAA-77B68E28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Schedule and check-in screens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1D16D-364B-441C-86E5-336AF1D8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2F6B"/>
                </a:solidFill>
              </a:defRPr>
            </a:pPr>
            <a:r>
              <a:rPr sz="1500" b="1">
                <a:solidFill>
                  <a:srgbClr val="C72F6B"/>
                </a:solidFill>
              </a:rPr>
              <a:t>SCHEDULE AND CREW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654CA-8B7A-4AD5-9509-98EC945F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181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2F6B"/>
                </a:solidFill>
              </a:defRPr>
            </a:pPr>
            <a:r>
              <a:rPr sz="1500" b="1">
                <a:solidFill>
                  <a:srgbClr val="C72F6B"/>
                </a:solidFill>
              </a:rPr>
              <a:t>CHECK-IN ATTENDANCE GRID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7B2DC-A23F-425B-AE9C-08BDE833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105400" cy="3248025"/>
          </a:xfrm>
          <a:prstGeom xmlns:a="http://schemas.openxmlformats.org/drawingml/2006/main" prst="roundRect">
            <a:avLst>
              <a:gd name="adj" fmla="val 17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BE6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80ee0f1104c16"/>
          <a:stretch xmlns:a="http://schemas.openxmlformats.org/drawingml/2006/main"/>
        </p:blipFill>
        <p:spPr>
          <a:xfrm xmlns:a="http://schemas.openxmlformats.org/drawingml/2006/main">
            <a:off x="685800" y="1638300"/>
            <a:ext cx="4953000" cy="3095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D4F7C-2053-436D-9D47-4DC1140A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5105400" cy="3248025"/>
          </a:xfrm>
          <a:prstGeom xmlns:a="http://schemas.openxmlformats.org/drawingml/2006/main" prst="roundRect">
            <a:avLst>
              <a:gd name="adj" fmla="val 17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BE6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f4090d1e9442a"/>
          <a:stretch xmlns:a="http://schemas.openxmlformats.org/drawingml/2006/main"/>
        </p:blipFill>
        <p:spPr>
          <a:xfrm xmlns:a="http://schemas.openxmlformats.org/drawingml/2006/main">
            <a:off x="6553200" y="1638300"/>
            <a:ext cx="4953000" cy="3095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76047-52F5-45A3-B85D-DA3C3D8D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63758A"/>
                </a:solidFill>
              </a:defRPr>
            </a:pPr>
            <a:r>
              <a:rPr sz="1650">
                <a:solidFill>
                  <a:srgbClr val="63758A"/>
                </a:solidFill>
              </a:rPr>
              <a:t>The schedule displays games and assigned crews. The check-in screen displays attendance status for expected officials.</a:t>
            </a:r>
          </a:p>
        </p:txBody>
      </p:sp>
    </p:spTree>
    <p:extLst>
      <p:ext uri="{BB962C8B-B14F-4D97-AF65-F5344CB8AC3E}">
        <p14:creationId xmlns:p14="http://schemas.microsoft.com/office/powerpoint/2010/main" val="1407571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D42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DC77B-7515-484C-AAA1-D51D7BAE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External check-in screens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01CD5-7E4D-48BB-A8F8-316432C0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BE7F0"/>
                </a:solidFill>
              </a:defRPr>
            </a:pPr>
            <a:r>
              <a:rPr sz="1575">
                <a:solidFill>
                  <a:srgbClr val="DBE7F0"/>
                </a:solidFill>
              </a:rPr>
              <a:t>Officials enter required information. A successful match displays confirmation and the official's daily assignments.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85C3F-DECE-48F6-8F5A-679E033D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81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2F6B"/>
                </a:solidFill>
              </a:defRPr>
            </a:pPr>
            <a:r>
              <a:rPr sz="1350" b="1">
                <a:solidFill>
                  <a:srgbClr val="C72F6B"/>
                </a:solidFill>
              </a:rPr>
              <a:t>1  FIND THE IMPORTED SCHEDULE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723B5-F42F-4127-9F13-8D318F06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81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2F6B"/>
                </a:solidFill>
              </a:defRPr>
            </a:pPr>
            <a:r>
              <a:rPr sz="1350" b="1">
                <a:solidFill>
                  <a:srgbClr val="C72F6B"/>
                </a:solidFill>
              </a:rPr>
              <a:t>2  SEE THE CONFIRMATION + ASSIGNMENTS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342CF-EC60-490A-8C0D-B7C06D04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81200"/>
            <a:ext cx="3390900" cy="44386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B5E1E-02BB-4B73-8C91-B6C3A329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81200"/>
            <a:ext cx="3390900" cy="44386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1E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686f6fd4e44e6"/>
          <a:stretch xmlns:a="http://schemas.openxmlformats.org/drawingml/2006/main"/>
        </p:blipFill>
        <p:spPr>
          <a:xfrm xmlns:a="http://schemas.openxmlformats.org/drawingml/2006/main">
            <a:off x="1885950" y="2128813"/>
            <a:ext cx="3162300" cy="414342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c2be6c6c2425d"/>
          <a:stretch xmlns:a="http://schemas.openxmlformats.org/drawingml/2006/main"/>
        </p:blipFill>
        <p:spPr>
          <a:xfrm xmlns:a="http://schemas.openxmlformats.org/drawingml/2006/main">
            <a:off x="7143750" y="2128813"/>
            <a:ext cx="3162300" cy="41434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26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93DC5-E482-49BA-A4C3-FC2D95C9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Ratings database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1063E-27BD-4040-A0C9-3CAEC7AF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3758A"/>
                </a:solidFill>
              </a:defRPr>
            </a:pPr>
            <a:r>
              <a:rPr sz="1575">
                <a:solidFill>
                  <a:srgbClr val="63758A"/>
                </a:solidFill>
              </a:rPr>
              <a:t>The full-game view displays all submitted ratings for a game, rating scores, submitters, filters, and export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2E902-BABC-459B-97F8-782CEA40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4267200"/>
          </a:xfrm>
          <a:prstGeom xmlns:a="http://schemas.openxmlformats.org/drawingml/2006/main" prst="roundRect">
            <a:avLst>
              <a:gd name="adj" fmla="val 1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BE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8bc25320f4420"/>
          <a:stretch xmlns:a="http://schemas.openxmlformats.org/drawingml/2006/main"/>
        </p:blipFill>
        <p:spPr>
          <a:xfrm xmlns:a="http://schemas.openxmlformats.org/drawingml/2006/main">
            <a:off x="2804160" y="1752600"/>
            <a:ext cx="6583680" cy="411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24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95B74-6208-4888-BDFE-53D28E94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553"/>
                </a:solidFill>
              </a:defRPr>
            </a:pPr>
            <a:r>
              <a:rPr sz="2850" b="1">
                <a:solidFill>
                  <a:srgbClr val="173553"/>
                </a:solidFill>
              </a:rPr>
              <a:t>Evaluation form screens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FCA15-B497-463B-8B58-B27EF348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2F6B"/>
                </a:solidFill>
              </a:defRPr>
            </a:pPr>
            <a:r>
              <a:rPr sz="1425" b="1">
                <a:solidFill>
                  <a:srgbClr val="C72F6B"/>
                </a:solidFill>
              </a:rPr>
              <a:t>BASIC 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B9DD9-CA00-4554-8656-D149D06F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181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2F6B"/>
                </a:solidFill>
              </a:defRPr>
            </a:pPr>
            <a:r>
              <a:rPr sz="1425" b="1">
                <a:solidFill>
                  <a:srgbClr val="C72F6B"/>
                </a:solidFill>
              </a:rPr>
              <a:t>SKILLS 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29ADE-1AD3-4ADE-A110-05441D65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05400" cy="3248025"/>
          </a:xfrm>
          <a:prstGeom xmlns:a="http://schemas.openxmlformats.org/drawingml/2006/main" prst="roundRect">
            <a:avLst>
              <a:gd name="adj" fmla="val 17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BE6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4492eebdf4889"/>
          <a:stretch xmlns:a="http://schemas.openxmlformats.org/drawingml/2006/main"/>
        </p:blipFill>
        <p:spPr>
          <a:xfrm xmlns:a="http://schemas.openxmlformats.org/drawingml/2006/main">
            <a:off x="685800" y="1600200"/>
            <a:ext cx="4953000" cy="3095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A007E-04C3-4BA2-82CE-ABCD7A07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5105400" cy="3248025"/>
          </a:xfrm>
          <a:prstGeom xmlns:a="http://schemas.openxmlformats.org/drawingml/2006/main" prst="roundRect">
            <a:avLst>
              <a:gd name="adj" fmla="val 17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BE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67acb0aac42e4"/>
          <a:stretch xmlns:a="http://schemas.openxmlformats.org/drawingml/2006/main"/>
        </p:blipFill>
        <p:spPr>
          <a:xfrm xmlns:a="http://schemas.openxmlformats.org/drawingml/2006/main">
            <a:off x="6553200" y="1600200"/>
            <a:ext cx="4953000" cy="3095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9A92E-345A-464F-814D-18CF324C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53"/>
                </a:solidFill>
              </a:defRPr>
            </a:pPr>
            <a:r>
              <a:rPr sz="1575" b="1">
                <a:solidFill>
                  <a:srgbClr val="173553"/>
                </a:solidFill>
              </a:rPr>
              <a:t>One 1-5 rating and notes for each official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F8BA9-DE32-40F7-BF49-061544F7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720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553"/>
                </a:solidFill>
              </a:defRPr>
            </a:pPr>
            <a:r>
              <a:rPr sz="1575" b="1">
                <a:solidFill>
                  <a:srgbClr val="173553"/>
                </a:solidFill>
              </a:rPr>
              <a:t>Position-specific categories and written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B3E84-0E59-4E9A-8C34-476F71B0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57850"/>
            <a:ext cx="487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68"/>
          </a:solidFill>
          <a:ln xmlns:a="http://schemas.openxmlformats.org/drawingml/2006/main" w="0">
            <a:solidFill>
              <a:srgbClr val="1D42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F665D-4E36-4074-A9B7-CCEBF7D4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674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5B89"/>
                </a:solidFill>
              </a:defRPr>
            </a:pPr>
            <a:r>
              <a:rPr sz="1500" b="1">
                <a:solidFill>
                  <a:srgbClr val="2D5B89"/>
                </a:solidFill>
              </a:rPr>
              <a:t>Custom evaluation formats can be made available for a group's workflow.</a:t>
            </a:r>
          </a:p>
        </p:txBody>
      </p:sp>
    </p:spTree>
    <p:extLst>
      <p:ext uri="{BB962C8B-B14F-4D97-AF65-F5344CB8AC3E}">
        <p14:creationId xmlns:p14="http://schemas.microsoft.com/office/powerpoint/2010/main" val="12110309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D42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1BACC-6853-4129-A669-6819EB9E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Current and potential functions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C88CC-3FB5-4D50-9828-40E876FB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DBE7F0"/>
                </a:solidFill>
              </a:defRPr>
            </a:pPr>
            <a:r>
              <a:rPr sz="2025">
                <a:solidFill>
                  <a:srgbClr val="DBE7F0"/>
                </a:solidFill>
              </a:rPr>
              <a:t>Functions available in the current tournament pilot: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1F0B9-7952-42EA-B3C6-41B72835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Import schedules and officials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932FB-9B41-4BAE-8BEE-67420903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Run check-in and attendance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F2CA8-8568-49EF-997F-7CCB7C1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Coordinate coaches and ratings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B3A95-08C6-46C4-B2BA-4A1338C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F6B"/>
          </a:solidFill>
          <a:ln xmlns:a="http://schemas.openxmlformats.org/drawingml/2006/main" w="0">
            <a:solidFill>
              <a:srgbClr val="C72F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0EE0A-67A8-45EB-A374-238442E0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F6B"/>
          </a:solidFill>
          <a:ln xmlns:a="http://schemas.openxmlformats.org/drawingml/2006/main" w="0">
            <a:solidFill>
              <a:srgbClr val="C72F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FD17F-64F5-477A-A554-ACED2C35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F6B"/>
          </a:solidFill>
          <a:ln xmlns:a="http://schemas.openxmlformats.org/drawingml/2006/main" w="0">
            <a:solidFill>
              <a:srgbClr val="C72F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31CEA-23AE-4F40-8391-5EFA9EC0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C12AB-6624-4913-8280-2F281B32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765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553"/>
                </a:solidFill>
              </a:defRPr>
            </a:pPr>
            <a:r>
              <a:rPr sz="1875" b="1">
                <a:solidFill>
                  <a:srgbClr val="173553"/>
                </a:solidFill>
              </a:rPr>
              <a:t>Potential future functions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36B2F-7BAE-43AE-A26D-6FB2D5FF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433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3758A"/>
                </a:solidFill>
              </a:defRPr>
            </a:pPr>
            <a:r>
              <a:rPr sz="1500">
                <a:solidFill>
                  <a:srgbClr val="63758A"/>
                </a:solidFill>
              </a:rPr>
              <a:t>Messaging and full assignment tools are potential future additions being explored - not committed product promises.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1DA16-9A32-4043-BE02-EBA901DA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Law18Referee Management</a:t>
            </a:r>
          </a:p>
        </p:txBody>
      </p:sp>
    </p:spTree>
    <p:extLst>
      <p:ext uri="{BB962C8B-B14F-4D97-AF65-F5344CB8AC3E}">
        <p14:creationId xmlns:p14="http://schemas.microsoft.com/office/powerpoint/2010/main" val="504378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2026-08-25T21:43:25.0220000Z</dcterms:created>
  <dcterms:modified xsi:type="dcterms:W3CDTF">2026-08-25T21:43:25.0220000Z</dcterms:modified>
</coreProperties>
</file>